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E51C24-9628-436F-9147-37892B02411D}">
  <a:tblStyle styleId="{3DE51C24-9628-436F-9147-37892B0241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lly FARQUHAR" userId="77265830-d7a1-4a12-ba44-c34c5925c67a" providerId="ADAL" clId="{2C992481-4C56-42D4-86D3-80A00079B2E8}"/>
    <pc:docChg chg="modSld">
      <pc:chgData name="Holly FARQUHAR" userId="77265830-d7a1-4a12-ba44-c34c5925c67a" providerId="ADAL" clId="{2C992481-4C56-42D4-86D3-80A00079B2E8}" dt="2026-02-20T01:05:11.022" v="0" actId="22"/>
      <pc:docMkLst>
        <pc:docMk/>
      </pc:docMkLst>
      <pc:sldChg chg="addSp mod">
        <pc:chgData name="Holly FARQUHAR" userId="77265830-d7a1-4a12-ba44-c34c5925c67a" providerId="ADAL" clId="{2C992481-4C56-42D4-86D3-80A00079B2E8}" dt="2026-02-20T01:05:11.022" v="0" actId="22"/>
        <pc:sldMkLst>
          <pc:docMk/>
          <pc:sldMk cId="0" sldId="256"/>
        </pc:sldMkLst>
        <pc:spChg chg="add">
          <ac:chgData name="Holly FARQUHAR" userId="77265830-d7a1-4a12-ba44-c34c5925c67a" providerId="ADAL" clId="{2C992481-4C56-42D4-86D3-80A00079B2E8}" dt="2026-02-20T01:05:11.022" v="0" actId="22"/>
          <ac:spMkLst>
            <pc:docMk/>
            <pc:sldMk cId="0" sldId="256"/>
            <ac:spMk id="3" creationId="{DCCAC6B5-2BE9-E4F6-9D0E-881DAAF031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8d83cca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8d83cca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8d83cca6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8d83cca6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8d83cca61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8d83cca61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8d83cca6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8d83cca6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8d83cca6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8d83cca6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8d83cca6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8d83cca6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your Vocab book and look at the first 3 examples. Add the translation from your language to the word predicted and the write an example sentence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8d83cca61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8d83cca61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8d83cca61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8d83cca61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8d83cca61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8d83cca61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Morphology and vocab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learning to use morphemes to predict the meanings of words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AC6B5-2BE9-E4F6-9D0E-881DAAF03102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dirty="0">
                <a:effectLst/>
              </a:rPr>
              <a:t> 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of the following words do you recognise?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Predicted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</a:rPr>
              <a:t>unpredictable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Dictionary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Dictator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contradictory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9166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you notice when we break the words up in this way?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4686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chemeClr val="dk1"/>
                </a:solidFill>
                <a:highlight>
                  <a:srgbClr val="00FFFF"/>
                </a:highlight>
              </a:rPr>
              <a:t>pre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00FF00"/>
                </a:highlight>
              </a:rPr>
              <a:t>dict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FFFF00"/>
                </a:highlight>
              </a:rPr>
              <a:t>ed</a:t>
            </a:r>
            <a:endParaRPr sz="29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chemeClr val="dk1"/>
                </a:solidFill>
                <a:highlight>
                  <a:srgbClr val="00FFFF"/>
                </a:highlight>
              </a:rPr>
              <a:t>un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00FFFF"/>
                </a:highlight>
              </a:rPr>
              <a:t>pre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00FF00"/>
                </a:highlight>
              </a:rPr>
              <a:t>dict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FFFF00"/>
                </a:highlight>
              </a:rPr>
              <a:t>able</a:t>
            </a:r>
            <a:endParaRPr sz="2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highlight>
                  <a:srgbClr val="00FF00"/>
                </a:highlight>
              </a:rPr>
              <a:t>dict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FFFF00"/>
                </a:highlight>
              </a:rPr>
              <a:t>ion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FFFF00"/>
                </a:highlight>
              </a:rPr>
              <a:t>ary</a:t>
            </a:r>
            <a:endParaRPr sz="29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highlight>
                  <a:srgbClr val="00FF00"/>
                </a:highlight>
              </a:rPr>
              <a:t>dict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FFFF00"/>
                </a:highlight>
              </a:rPr>
              <a:t>at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FFFF00"/>
                </a:highlight>
              </a:rPr>
              <a:t>or</a:t>
            </a:r>
            <a:endParaRPr sz="29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highlight>
                  <a:srgbClr val="00FFFF"/>
                </a:highlight>
              </a:rPr>
              <a:t>contra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00FF00"/>
                </a:highlight>
              </a:rPr>
              <a:t>dict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FFFF00"/>
                </a:highlight>
              </a:rPr>
              <a:t>ory</a:t>
            </a:r>
            <a:endParaRPr sz="2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180175"/>
            <a:ext cx="89166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229725"/>
            <a:ext cx="8668800" cy="46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English words are made of parts that have meaning. These are called morphemes. </a:t>
            </a:r>
            <a:endParaRPr sz="22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highlight>
                  <a:schemeClr val="lt1"/>
                </a:highlight>
              </a:rPr>
              <a:t>Some morphemes can be words by themselves like “</a:t>
            </a:r>
            <a:r>
              <a:rPr lang="en" sz="2200">
                <a:solidFill>
                  <a:schemeClr val="dk1"/>
                </a:solidFill>
                <a:highlight>
                  <a:srgbClr val="00FF00"/>
                </a:highlight>
              </a:rPr>
              <a:t>foot</a:t>
            </a:r>
            <a:r>
              <a:rPr lang="en" sz="2200">
                <a:solidFill>
                  <a:schemeClr val="dk1"/>
                </a:solidFill>
              </a:rPr>
              <a:t>”, and maybe combined with other words morphemes like “</a:t>
            </a:r>
            <a:r>
              <a:rPr lang="en" sz="2200">
                <a:solidFill>
                  <a:schemeClr val="dk1"/>
                </a:solidFill>
                <a:highlight>
                  <a:srgbClr val="00FF00"/>
                </a:highlight>
              </a:rPr>
              <a:t>path</a:t>
            </a:r>
            <a:r>
              <a:rPr lang="en" sz="2200">
                <a:solidFill>
                  <a:schemeClr val="dk1"/>
                </a:solidFill>
              </a:rPr>
              <a:t>” or “</a:t>
            </a:r>
            <a:r>
              <a:rPr lang="en" sz="2200">
                <a:solidFill>
                  <a:schemeClr val="dk1"/>
                </a:solidFill>
                <a:highlight>
                  <a:srgbClr val="00FF00"/>
                </a:highlight>
              </a:rPr>
              <a:t>ball</a:t>
            </a:r>
            <a:r>
              <a:rPr lang="en" sz="2200">
                <a:solidFill>
                  <a:schemeClr val="dk1"/>
                </a:solidFill>
              </a:rPr>
              <a:t>” to make: </a:t>
            </a:r>
            <a:endParaRPr sz="22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highlight>
                  <a:srgbClr val="00FF00"/>
                </a:highlight>
              </a:rPr>
              <a:t>footpath</a:t>
            </a:r>
            <a:r>
              <a:rPr lang="en" sz="2200">
                <a:solidFill>
                  <a:schemeClr val="dk1"/>
                </a:solidFill>
              </a:rPr>
              <a:t> </a:t>
            </a:r>
            <a:endParaRPr sz="22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highlight>
                  <a:srgbClr val="00FF00"/>
                </a:highlight>
              </a:rPr>
              <a:t>football </a:t>
            </a:r>
            <a:endParaRPr sz="22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highlight>
                  <a:srgbClr val="00FF00"/>
                </a:highlight>
              </a:rPr>
              <a:t>foot</a:t>
            </a:r>
            <a:r>
              <a:rPr lang="en" sz="2200">
                <a:solidFill>
                  <a:schemeClr val="dk1"/>
                </a:solidFill>
                <a:highlight>
                  <a:srgbClr val="FFFF00"/>
                </a:highlight>
              </a:rPr>
              <a:t>y</a:t>
            </a:r>
            <a:endParaRPr sz="22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highlight>
                  <a:srgbClr val="00FF00"/>
                </a:highlight>
              </a:rPr>
              <a:t>foot</a:t>
            </a:r>
            <a:r>
              <a:rPr lang="en" sz="2200">
                <a:solidFill>
                  <a:schemeClr val="dk1"/>
                </a:solidFill>
                <a:highlight>
                  <a:srgbClr val="FFFF00"/>
                </a:highlight>
              </a:rPr>
              <a:t>ing</a:t>
            </a:r>
            <a:endParaRPr sz="22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328775" y="204075"/>
            <a:ext cx="8520600" cy="10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chemeClr val="lt1"/>
                </a:highlight>
              </a:rPr>
              <a:t>The following word has four morphemes. Which do you recognise?</a:t>
            </a:r>
            <a:endParaRPr sz="21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highlight>
                  <a:srgbClr val="00FFFF"/>
                </a:highlight>
              </a:rPr>
              <a:t>un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00FFFF"/>
                </a:highlight>
              </a:rPr>
              <a:t>pre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00FF00"/>
                </a:highlight>
              </a:rPr>
              <a:t>dict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FFFF00"/>
                </a:highlight>
              </a:rPr>
              <a:t>able</a:t>
            </a:r>
            <a:r>
              <a:rPr lang="en" sz="29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2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highlight>
                <a:schemeClr val="lt1"/>
              </a:highlight>
            </a:endParaRPr>
          </a:p>
        </p:txBody>
      </p:sp>
      <p:cxnSp>
        <p:nvCxnSpPr>
          <p:cNvPr id="79" name="Google Shape;79;p17"/>
          <p:cNvCxnSpPr/>
          <p:nvPr/>
        </p:nvCxnSpPr>
        <p:spPr>
          <a:xfrm flipH="1">
            <a:off x="1906300" y="1360325"/>
            <a:ext cx="1093500" cy="435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" name="Google Shape;80;p17"/>
          <p:cNvSpPr txBox="1"/>
          <p:nvPr/>
        </p:nvSpPr>
        <p:spPr>
          <a:xfrm>
            <a:off x="132250" y="172767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900">
                <a:solidFill>
                  <a:schemeClr val="dk1"/>
                </a:solidFill>
                <a:highlight>
                  <a:srgbClr val="00FFFF"/>
                </a:highlight>
              </a:rPr>
              <a:t>not</a:t>
            </a:r>
            <a:r>
              <a:rPr lang="en"/>
              <a:t>  </a:t>
            </a: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1972225" y="17962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900">
                <a:solidFill>
                  <a:schemeClr val="dk1"/>
                </a:solidFill>
                <a:highlight>
                  <a:srgbClr val="00FFFF"/>
                </a:highlight>
              </a:rPr>
              <a:t>before</a:t>
            </a:r>
            <a:r>
              <a:rPr lang="en"/>
              <a:t> </a:t>
            </a:r>
            <a:endParaRPr/>
          </a:p>
        </p:txBody>
      </p:sp>
      <p:cxnSp>
        <p:nvCxnSpPr>
          <p:cNvPr id="82" name="Google Shape;82;p17"/>
          <p:cNvCxnSpPr>
            <a:endCxn id="81" idx="0"/>
          </p:cNvCxnSpPr>
          <p:nvPr/>
        </p:nvCxnSpPr>
        <p:spPr>
          <a:xfrm flipH="1">
            <a:off x="3472225" y="1309025"/>
            <a:ext cx="339300" cy="487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" name="Google Shape;83;p17"/>
          <p:cNvSpPr txBox="1"/>
          <p:nvPr/>
        </p:nvSpPr>
        <p:spPr>
          <a:xfrm>
            <a:off x="3508750" y="18389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chemeClr val="dk1"/>
                </a:solidFill>
                <a:highlight>
                  <a:srgbClr val="00FF00"/>
                </a:highlight>
              </a:rPr>
              <a:t>say</a:t>
            </a:r>
            <a:endParaRPr/>
          </a:p>
        </p:txBody>
      </p:sp>
      <p:cxnSp>
        <p:nvCxnSpPr>
          <p:cNvPr id="84" name="Google Shape;84;p17"/>
          <p:cNvCxnSpPr/>
          <p:nvPr/>
        </p:nvCxnSpPr>
        <p:spPr>
          <a:xfrm>
            <a:off x="4964925" y="1300525"/>
            <a:ext cx="60900" cy="588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" name="Google Shape;85;p17"/>
          <p:cNvSpPr txBox="1"/>
          <p:nvPr/>
        </p:nvSpPr>
        <p:spPr>
          <a:xfrm>
            <a:off x="5728807" y="17962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900">
                <a:solidFill>
                  <a:schemeClr val="dk1"/>
                </a:solidFill>
                <a:highlight>
                  <a:srgbClr val="FFFF00"/>
                </a:highlight>
              </a:rPr>
              <a:t>can/possible </a:t>
            </a:r>
            <a:endParaRPr sz="2900"/>
          </a:p>
        </p:txBody>
      </p:sp>
      <p:cxnSp>
        <p:nvCxnSpPr>
          <p:cNvPr id="86" name="Google Shape;86;p17"/>
          <p:cNvCxnSpPr>
            <a:endCxn id="85" idx="0"/>
          </p:cNvCxnSpPr>
          <p:nvPr/>
        </p:nvCxnSpPr>
        <p:spPr>
          <a:xfrm>
            <a:off x="6203707" y="1309025"/>
            <a:ext cx="1025100" cy="487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" name="Google Shape;87;p17"/>
          <p:cNvSpPr txBox="1"/>
          <p:nvPr/>
        </p:nvSpPr>
        <p:spPr>
          <a:xfrm>
            <a:off x="1538375" y="2896425"/>
            <a:ext cx="610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“</a:t>
            </a:r>
            <a:r>
              <a:rPr lang="en" sz="2000">
                <a:highlight>
                  <a:srgbClr val="00FFFF"/>
                </a:highlight>
              </a:rPr>
              <a:t>Not </a:t>
            </a:r>
            <a:r>
              <a:rPr lang="en" sz="2000">
                <a:highlight>
                  <a:schemeClr val="lt1"/>
                </a:highlight>
              </a:rPr>
              <a:t>something you </a:t>
            </a:r>
            <a:r>
              <a:rPr lang="en" sz="2000">
                <a:highlight>
                  <a:srgbClr val="FFFF00"/>
                </a:highlight>
              </a:rPr>
              <a:t>can</a:t>
            </a:r>
            <a:r>
              <a:rPr lang="en" sz="2000">
                <a:highlight>
                  <a:schemeClr val="lt1"/>
                </a:highlight>
              </a:rPr>
              <a:t> </a:t>
            </a:r>
            <a:r>
              <a:rPr lang="en" sz="2000"/>
              <a:t> </a:t>
            </a:r>
            <a:r>
              <a:rPr lang="en" sz="2000">
                <a:highlight>
                  <a:srgbClr val="00FF00"/>
                </a:highlight>
              </a:rPr>
              <a:t>say</a:t>
            </a:r>
            <a:r>
              <a:rPr lang="en" sz="2000">
                <a:highlight>
                  <a:schemeClr val="lt1"/>
                </a:highlight>
              </a:rPr>
              <a:t> </a:t>
            </a:r>
            <a:r>
              <a:rPr lang="en" sz="2000">
                <a:highlight>
                  <a:srgbClr val="00FFFF"/>
                </a:highlight>
              </a:rPr>
              <a:t>before</a:t>
            </a:r>
            <a:r>
              <a:rPr lang="en" sz="2000"/>
              <a:t> it happens”</a:t>
            </a:r>
            <a:endParaRPr sz="2000"/>
          </a:p>
        </p:txBody>
      </p:sp>
      <p:cxnSp>
        <p:nvCxnSpPr>
          <p:cNvPr id="88" name="Google Shape;88;p17"/>
          <p:cNvCxnSpPr>
            <a:endCxn id="80" idx="2"/>
          </p:cNvCxnSpPr>
          <p:nvPr/>
        </p:nvCxnSpPr>
        <p:spPr>
          <a:xfrm rot="10800000">
            <a:off x="1632250" y="2358875"/>
            <a:ext cx="359400" cy="513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7"/>
          <p:cNvCxnSpPr/>
          <p:nvPr/>
        </p:nvCxnSpPr>
        <p:spPr>
          <a:xfrm flipH="1">
            <a:off x="4144700" y="2358875"/>
            <a:ext cx="2749800" cy="556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7"/>
          <p:cNvCxnSpPr>
            <a:stCxn id="83" idx="2"/>
          </p:cNvCxnSpPr>
          <p:nvPr/>
        </p:nvCxnSpPr>
        <p:spPr>
          <a:xfrm flipH="1">
            <a:off x="4640350" y="2470125"/>
            <a:ext cx="368400" cy="502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17"/>
          <p:cNvCxnSpPr/>
          <p:nvPr/>
        </p:nvCxnSpPr>
        <p:spPr>
          <a:xfrm>
            <a:off x="3434150" y="2372225"/>
            <a:ext cx="2094600" cy="568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28775" y="204075"/>
            <a:ext cx="8520600" cy="10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highlight>
                  <a:srgbClr val="00FFFF"/>
                </a:highlight>
              </a:rPr>
              <a:t>un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00FFFF"/>
                </a:highlight>
              </a:rPr>
              <a:t>pre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00FF00"/>
                </a:highlight>
              </a:rPr>
              <a:t>dict</a:t>
            </a:r>
            <a:r>
              <a:rPr lang="en" sz="2900">
                <a:solidFill>
                  <a:schemeClr val="dk1"/>
                </a:solidFill>
              </a:rPr>
              <a:t> -  </a:t>
            </a:r>
            <a:r>
              <a:rPr lang="en" sz="2900">
                <a:solidFill>
                  <a:schemeClr val="dk1"/>
                </a:solidFill>
                <a:highlight>
                  <a:srgbClr val="FFFF00"/>
                </a:highlight>
              </a:rPr>
              <a:t>able</a:t>
            </a:r>
            <a:r>
              <a:rPr lang="en" sz="29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2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highlight>
                <a:schemeClr val="lt1"/>
              </a:highlight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363300" y="905650"/>
            <a:ext cx="1722300" cy="24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不可预测的 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不可預測的 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不可預測嘅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غير متوقع 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khó đoán 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2247075" y="811675"/>
            <a:ext cx="3931200" cy="21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പ്രതീക്ഷിക്കാനാവാത്ത غیرقابل پیش‌بینی غیر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قابل پیش‌بینی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予測できない ሊገመት የማይችል imprevizibil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نه وړاندوینه کېدونکی ناقابلِ پیش گوئی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4300" y="2617150"/>
            <a:ext cx="3195325" cy="22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0" y="2423725"/>
            <a:ext cx="5469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rPr lang="en" sz="3300"/>
              <a:t>“Weather in Melbourne is </a:t>
            </a:r>
            <a:r>
              <a:rPr lang="en" sz="3300" u="sng"/>
              <a:t>unpredictable”</a:t>
            </a:r>
            <a:endParaRPr sz="3300" u="sng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107" name="Google Shape;107;p19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{3DE51C24-9628-436F-9147-37892B02411D}</a:tableStyleId>
              </a:tblPr>
              <a:tblGrid>
                <a:gridCol w="67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2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69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20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prefixes</a:t>
                      </a:r>
                      <a:endParaRPr sz="10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meaning</a:t>
                      </a:r>
                      <a:endParaRPr sz="10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translated</a:t>
                      </a:r>
                      <a:endParaRPr sz="10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Roots</a:t>
                      </a:r>
                      <a:endParaRPr sz="10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English meaning</a:t>
                      </a:r>
                      <a:endParaRPr sz="10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translated</a:t>
                      </a:r>
                      <a:endParaRPr sz="10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Suffixes</a:t>
                      </a:r>
                      <a:endParaRPr sz="10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English meaning</a:t>
                      </a:r>
                      <a:endParaRPr sz="10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translated</a:t>
                      </a:r>
                      <a:endParaRPr sz="10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contra</a:t>
                      </a:r>
                      <a:endParaRPr sz="11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/>
                        <a:t>against</a:t>
                      </a:r>
                      <a:endParaRPr sz="800" i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反/反/ضد/chống/എതിര്‍/ضد/反/ተቃውሞ/contra/پر ضد/خلاف</a:t>
                      </a:r>
                      <a:endParaRPr sz="900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dict</a:t>
                      </a:r>
                      <a:endParaRPr sz="11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/>
                        <a:t>say / speak</a:t>
                      </a:r>
                      <a:endParaRPr sz="800" i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說/说/يقول/nói/പറയുക/گفتن/言う/መናገር/a spune/ویل/کہنا</a:t>
                      </a:r>
                      <a:endParaRPr sz="900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able</a:t>
                      </a:r>
                      <a:endParaRPr sz="11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/>
                        <a:t>can be</a:t>
                      </a:r>
                      <a:endParaRPr sz="800" i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能夠/能够/قابل/có thể/കഴിയുന്ന/قابل/できる/የሚችል/capabil/کېدونکی/قابل</a:t>
                      </a:r>
                      <a:endParaRPr sz="900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8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pre</a:t>
                      </a:r>
                      <a:endParaRPr sz="11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/>
                        <a:t>before</a:t>
                      </a:r>
                      <a:endParaRPr sz="800" i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在前/在前/قبل/trước/മുൻ/پیش/前/በፊት/înainte/مخکې/پہلے</a:t>
                      </a:r>
                      <a:endParaRPr sz="900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i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ary</a:t>
                      </a:r>
                      <a:endParaRPr sz="11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/>
                        <a:t>related to / place for</a:t>
                      </a:r>
                      <a:endParaRPr sz="800" i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相關的/相关的/متعلق بـ/liên quan/ബന്ധപ്പെട്ട/مربوط/〜の/የተያያዘ/legat de/اړوند/متعلق</a:t>
                      </a:r>
                      <a:endParaRPr sz="900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un</a:t>
                      </a:r>
                      <a:endParaRPr sz="11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/>
                        <a:t>not</a:t>
                      </a:r>
                      <a:endParaRPr sz="800" i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不/不/غير/không/അല്ല/نـ/不/አይ/nu/ne/نہ</a:t>
                      </a:r>
                      <a:endParaRPr sz="900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ate</a:t>
                      </a:r>
                      <a:endParaRPr sz="11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/>
                        <a:t>make / cause to become</a:t>
                      </a:r>
                      <a:endParaRPr sz="800" i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使/使/يجعل/làm cho/ആക്കുക/کردن/〜にする/ማድረግ/a face/کول/بنانا</a:t>
                      </a:r>
                      <a:endParaRPr sz="900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ed</a:t>
                      </a:r>
                      <a:endParaRPr sz="11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/>
                        <a:t>past tense</a:t>
                      </a:r>
                      <a:endParaRPr sz="800" i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過去/过去/الماضي/đã/കഴിഞ്ഞ/گذشته/過去/ያለፈ/timp trecut/تېر/گزشتہ</a:t>
                      </a:r>
                      <a:endParaRPr sz="900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ion</a:t>
                      </a:r>
                      <a:endParaRPr sz="11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/>
                        <a:t>act / process</a:t>
                      </a:r>
                      <a:endParaRPr sz="800" i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行為/行为/عملية/sự/പ്രക്രിയ/عمل/こと/ሂደት/proces/بهیر/عمل</a:t>
                      </a:r>
                      <a:endParaRPr sz="900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or</a:t>
                      </a:r>
                      <a:endParaRPr sz="11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/>
                        <a:t>person who</a:t>
                      </a:r>
                      <a:endParaRPr sz="800" i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人/人/شخص/người/ആള്‍/کننده/人/ሰው/persoană/کوونکی/کرنے والا</a:t>
                      </a:r>
                      <a:endParaRPr sz="900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1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ory</a:t>
                      </a:r>
                      <a:endParaRPr sz="1100" b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/>
                        <a:t>relating to</a:t>
                      </a:r>
                      <a:endParaRPr sz="800" i="1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關於/关于/متعلق/thuộc về/ബന്ധപ്പെട്ട/مربوط/〜に関する/የሚመለከት/referitor la/اړوند/متعلق</a:t>
                      </a:r>
                      <a:endParaRPr sz="900"/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 rotWithShape="1">
          <a:blip r:embed="rId3">
            <a:alphaModFix/>
          </a:blip>
          <a:srcRect r="44739" b="23763"/>
          <a:stretch/>
        </p:blipFill>
        <p:spPr>
          <a:xfrm>
            <a:off x="0" y="0"/>
            <a:ext cx="9184399" cy="494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88" y="14288"/>
            <a:ext cx="8658225" cy="511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 rotWithShape="1">
          <a:blip r:embed="rId3">
            <a:alphaModFix/>
          </a:blip>
          <a:srcRect r="21550"/>
          <a:stretch/>
        </p:blipFill>
        <p:spPr>
          <a:xfrm>
            <a:off x="-1" y="0"/>
            <a:ext cx="43583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800" y="915197"/>
            <a:ext cx="4647599" cy="2008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22"/>
          <p:cNvCxnSpPr/>
          <p:nvPr/>
        </p:nvCxnSpPr>
        <p:spPr>
          <a:xfrm rot="10800000" flipH="1">
            <a:off x="2094125" y="2300350"/>
            <a:ext cx="2383800" cy="811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22"/>
          <p:cNvCxnSpPr/>
          <p:nvPr/>
        </p:nvCxnSpPr>
        <p:spPr>
          <a:xfrm>
            <a:off x="2623875" y="873300"/>
            <a:ext cx="2913600" cy="1409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9f09437d8d02a1e3f0770c32ba2175b3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555cb06902e6186cbfcc866e1dbcbb82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21A088-7A19-4575-BB0B-53CD4E4CD68D}">
  <ds:schemaRefs>
    <ds:schemaRef ds:uri="http://schemas.microsoft.com/office/2006/metadata/properties"/>
    <ds:schemaRef ds:uri="http://schemas.microsoft.com/office/infopath/2007/PartnerControls"/>
    <ds:schemaRef ds:uri="46846ff6-a39a-4f56-aca6-b2ea1af70d2e"/>
    <ds:schemaRef ds:uri="a8299878-b215-4b71-83d0-6b3d83d7e5d9"/>
  </ds:schemaRefs>
</ds:datastoreItem>
</file>

<file path=customXml/itemProps2.xml><?xml version="1.0" encoding="utf-8"?>
<ds:datastoreItem xmlns:ds="http://schemas.openxmlformats.org/officeDocument/2006/customXml" ds:itemID="{C9419361-92B1-4CB2-A8DA-1BCA1D4226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84EF6B-BCFD-484F-B28E-87367F48F0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846ff6-a39a-4f56-aca6-b2ea1af70d2e"/>
    <ds:schemaRef ds:uri="a8299878-b215-4b71-83d0-6b3d83d7e5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Office PowerPoint</Application>
  <PresentationFormat>On-screen Show (16:9)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Morphology and vocab</vt:lpstr>
      <vt:lpstr>Which of the following words do you recognise?  </vt:lpstr>
      <vt:lpstr>What do you notice when we break the words up in this way?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Holly FARQUHAR</cp:lastModifiedBy>
  <cp:revision>1</cp:revision>
  <dcterms:modified xsi:type="dcterms:W3CDTF">2026-02-20T01:05:17Z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  <property fmtid="{D5CDD505-2E9C-101B-9397-08002B2CF9AE}" pid="3" name="MediaServiceImageTags">
    <vt:lpwstr/>
  </property>
</Properties>
</file>